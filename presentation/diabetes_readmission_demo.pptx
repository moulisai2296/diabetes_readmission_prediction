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Diabetes 30-Day Readmission Prediction</a:t>
            </a:r>
          </a:p>
          <a:p>
            <a:pPr>
              <a:defRPr sz="2000">
                <a:solidFill>
                  <a:srgbClr val="BFE0CC"/>
                </a:solidFill>
              </a:defRPr>
            </a:pPr>
            <a:r>
              <a:t>End-to-end ML system —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FE0CC"/>
                </a:solidFill>
              </a:defRPr>
            </a:pPr>
            <a:r>
              <a:t>Care-team decision support  ·  UCI Diabetes 130-US Hospitals (1999–2008)  ·  ~101k encounters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1.  EDA &amp; Column Segregation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49377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Dataset &amp; traps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101,766 encounters (1 row = 1 hospital stay), ~50 columns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Target: readmitted ∈ {&lt;30, &gt;30, NO} → binary '&lt;30' = 1</a:t>
            </a:r>
          </a:p>
          <a:p>
            <a:pPr lvl="1">
              <a:spcAft>
                <a:spcPts val="400"/>
              </a:spcAft>
              <a:defRPr sz="1300">
                <a:solidFill>
                  <a:srgbClr val="5A6F63"/>
                </a:solidFill>
              </a:defRPr>
            </a:pPr>
            <a:r>
              <a:t>– Positive rate ~11.3% → accuracy is a trap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Missing coded as '?' → treated as NaN on load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weight ~97% missing → dropped (justified)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A missing A1C/glucose test is information →</a:t>
            </a:r>
          </a:p>
          <a:p>
            <a:pPr lvl="1">
              <a:spcAft>
                <a:spcPts val="400"/>
              </a:spcAft>
              <a:defRPr sz="1300">
                <a:solidFill>
                  <a:srgbClr val="5A6F63"/>
                </a:solidFill>
              </a:defRPr>
            </a:pPr>
            <a:r>
              <a:t>– kept as its own 'NotMeasured' category, never imputed</a:t>
            </a:r>
          </a:p>
          <a:p>
            <a:pPr>
              <a:spcAft>
                <a:spcPts val="400"/>
              </a:spcAft>
              <a:defRPr sz="1500">
                <a:solidFill>
                  <a:srgbClr val="16261D"/>
                </a:solidFill>
              </a:defRPr>
            </a:pPr>
            <a:r>
              <a:t>• Excluded encounters that can't be readmitted</a:t>
            </a:r>
          </a:p>
          <a:p>
            <a:pPr lvl="1">
              <a:spcAft>
                <a:spcPts val="400"/>
              </a:spcAft>
              <a:defRPr sz="1300">
                <a:solidFill>
                  <a:srgbClr val="5A6F63"/>
                </a:solidFill>
              </a:defRPr>
            </a:pPr>
            <a:r>
              <a:t>– (expired / hospice discharge)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143000"/>
            <a:ext cx="58521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89320" y="1307592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Columns grouped into blocks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Demographics: race, gender, age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Encounter: time_in_hospital, num_lab_procedures,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num_procedures, num_medications, number_diagnoses, medical_specialty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Prior utilization: number_outpatient / emergency / inpatient, payer_code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Diagnoses &amp; labs: diag_1/2/3, max_glu_serum, A1Cresult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Medications: 21 drug flags + change + diabetesMed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Admission / discharge: type, source, disposition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2. 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ICD-9 diag_1/2/3 → clinical buckets (Strack et al.): Circulatory, Respiratory,</a:t>
            </a:r>
          </a:p>
          <a:p>
            <a:pPr lvl="1">
              <a:spcAft>
                <a:spcPts val="400"/>
              </a:spcAft>
              <a:defRPr sz="1400">
                <a:solidFill>
                  <a:srgbClr val="5A6F63"/>
                </a:solidFill>
              </a:defRPr>
            </a:pPr>
            <a:r>
              <a:t>– Digestive, Diabetes, Injury, Musculoskeletal, Genitourinary, Neoplasms, Other</a:t>
            </a:r>
          </a:p>
          <a:p>
            <a:pPr lvl="1">
              <a:spcAft>
                <a:spcPts val="400"/>
              </a:spcAft>
              <a:defRPr sz="1400">
                <a:solidFill>
                  <a:srgbClr val="5A6F63"/>
                </a:solidFill>
              </a:defRPr>
            </a:pPr>
            <a:r>
              <a:t>– → diag_1_group, diag_2_group, diag_3_group, diabetes_diag_any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total_prior_visits = number_outpatient + number_emergency + number_inpatient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n_med_changes, n_active_meds  → summarized from the 21 medication columns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age_ordinal  → age bracket mapped to an ordinal 0–9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lump_rare: rare medical_specialty / payer_code (&lt;1% of train) collapsed to 'Other'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One shared engineer() runs at BOTH train and serve time → no training/serving skew</a:t>
            </a:r>
          </a:p>
          <a:p>
            <a:pPr>
              <a:spcAft>
                <a:spcPts val="400"/>
              </a:spcAft>
              <a:defRPr sz="1600">
                <a:solidFill>
                  <a:srgbClr val="16261D"/>
                </a:solidFill>
              </a:defRPr>
            </a:pPr>
            <a:r>
              <a:t>• Every feature + source + rationale logged in src/features/FEATURES.md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3.  Features Going to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The 48-feature matrix → features.parquet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48 model features = 13 numeric + 35 categorical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Numeric: time_in_hospital, num_lab_procedures, num_procedures,</a:t>
            </a:r>
          </a:p>
          <a:p>
            <a:pPr lvl="1">
              <a:spcAft>
                <a:spcPts val="400"/>
              </a:spcAft>
              <a:defRPr sz="1200">
                <a:solidFill>
                  <a:srgbClr val="5A6F63"/>
                </a:solidFill>
              </a:defRPr>
            </a:pPr>
            <a:r>
              <a:t>– num_medications, number_outpatient/emergency/inpatient,</a:t>
            </a:r>
          </a:p>
          <a:p>
            <a:pPr lvl="1">
              <a:spcAft>
                <a:spcPts val="400"/>
              </a:spcAft>
              <a:defRPr sz="1200">
                <a:solidFill>
                  <a:srgbClr val="5A6F63"/>
                </a:solidFill>
              </a:defRPr>
            </a:pPr>
            <a:r>
              <a:t>– number_diagnoses, total_prior_visits, n_med_changes,</a:t>
            </a:r>
          </a:p>
          <a:p>
            <a:pPr lvl="1">
              <a:spcAft>
                <a:spcPts val="400"/>
              </a:spcAft>
              <a:defRPr sz="1200">
                <a:solidFill>
                  <a:srgbClr val="5A6F63"/>
                </a:solidFill>
              </a:defRPr>
            </a:pPr>
            <a:r>
              <a:t>– n_active_meds, diabetes_diag_any, age_ordinal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Categorical: 21 medication flags + race, gender, labs,</a:t>
            </a:r>
          </a:p>
          <a:p>
            <a:pPr lvl="1">
              <a:spcAft>
                <a:spcPts val="400"/>
              </a:spcAft>
              <a:defRPr sz="1200">
                <a:solidFill>
                  <a:srgbClr val="5A6F63"/>
                </a:solidFill>
              </a:defRPr>
            </a:pPr>
            <a:r>
              <a:t>– admission/discharge, specialty, payer, diag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43000"/>
            <a:ext cx="53035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1307592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26 human inputs → 48 features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Care team types ~26 facts; only gender &amp; age required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Server DERIVES ~8 engineered features (not typed)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visit counts → total_prior_visits; codes → diag groups; age → age_ordinal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18 of 21 drugs default to 'No' (not prescribed)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form surfaces the common ones (metformin, glyburide, insulin)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XGBoost native-categorical: category order frozen in feature_spec.json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4.  Modeling — Baseline vs Advanced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76809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143000"/>
                <a:gridCol w="1143000"/>
                <a:gridCol w="1371600"/>
                <a:gridCol w="914400"/>
              </a:tblGrid>
              <a:tr h="32918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(validation)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recall@p≥30%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Logistic regression (baseline)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0.221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0.189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0.225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6261D"/>
                          </a:solidFill>
                        </a:defRPr>
                      </a:pPr>
                      <a:r>
                        <a:t>XGBoost  (winner)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261D"/>
                          </a:solidFill>
                        </a:defRPr>
                      </a:pPr>
                      <a:r>
                        <a:t>0.239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261D"/>
                          </a:solidFill>
                        </a:defRPr>
                      </a:pPr>
                      <a:r>
                        <a:t>0.680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261D"/>
                          </a:solidFill>
                        </a:defRPr>
                      </a:pPr>
                      <a:r>
                        <a:t>0.216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261D"/>
                          </a:solidFill>
                        </a:defRPr>
                      </a:pPr>
                      <a:r>
                        <a:t>0.206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0.239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0.215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0.201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XGBoost + isotonic calibration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0.236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0.680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0.205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61D"/>
                          </a:solidFill>
                        </a:defRPr>
                      </a:pPr>
                      <a:r>
                        <a:t>0.097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Split by patient_nbr (GroupShuffleSplit); tuned with StratifiedGroupKFold → no leakage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Imbalance via class weights (not resampling) — keeps grouped CV &amp; calibration valid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Tuned on PR-AUC, not ROC-AUC — at 11% positives PR-AUC is what the care team feels</a:t>
            </a:r>
          </a:p>
          <a:p>
            <a:pPr>
              <a:spcAft>
                <a:spcPts val="400"/>
              </a:spcAft>
              <a:defRPr sz="1400">
                <a:solidFill>
                  <a:srgbClr val="16261D"/>
                </a:solidFill>
              </a:defRPr>
            </a:pPr>
            <a:r>
              <a:t>• Calibration fixed the Brier disaster: 0.206 → 0.097 with ranking intact (honest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5.  Model Evaluation (held-out test)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6035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B6B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Recall @ 0.10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261D"/>
                          </a:solidFill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BFE0C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Precision @ 0.10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Flag rate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0.244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Net savings / 1,000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61D"/>
                          </a:solidFill>
                        </a:defRPr>
                      </a:pPr>
                      <a:r>
                        <a:t>$96,103</a:t>
                      </a:r>
                    </a:p>
                  </a:txBody>
                  <a:tcPr>
                    <a:solidFill>
                      <a:srgbClr val="EEF5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6035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Decision rule: risk × 0.2 × $15,000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&gt; $300  →  flag when risk ≥ 0.1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Low precision is BY DESIGN — a $300 call vs a $15k readmission</a:t>
            </a:r>
          </a:p>
        </p:txBody>
      </p:sp>
      <p:pic>
        <p:nvPicPr>
          <p:cNvPr id="5" name="Picture 4" descr="shap_global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574765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6.  Monitoring — What &amp; 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5486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07592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Service &amp; model metrics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Prometheus scrapes /metrics every 15s → Grafana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request rate, p95 latency, error rate, flag rate, score distribution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Every prediction logged to logs/predictions.jsonl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inputs + score + version + timestamp (audit + drift window)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Alerts (Prometheus rules):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APIDown · HighErrorRate · HighPredictLatencyP95 · FlagRateSurge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143000"/>
            <a:ext cx="53035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D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307592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6B4F"/>
                </a:solidFill>
              </a:defRPr>
            </a:pPr>
            <a:r>
              <a:t>Drift &amp; retraining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GET /drift — live Evidently report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recent requests vs the training baseline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data drift + prediction (score) drift</a:t>
            </a:r>
          </a:p>
          <a:p>
            <a:pPr>
              <a:spcAft>
                <a:spcPts val="400"/>
              </a:spcAft>
              <a:defRPr sz="1300">
                <a:solidFill>
                  <a:srgbClr val="16261D"/>
                </a:solidFill>
              </a:defRPr>
            </a:pPr>
            <a:r>
              <a:t>• Retraining trigger (concrete):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≥30% of features drift, or prediction drift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recall &lt; 0.55 on newly labelled data</a:t>
            </a:r>
          </a:p>
          <a:p>
            <a:pPr lvl="1">
              <a:spcAft>
                <a:spcPts val="400"/>
              </a:spcAft>
              <a:defRPr sz="1100">
                <a:solidFill>
                  <a:srgbClr val="5A6F63"/>
                </a:solidFill>
              </a:defRPr>
            </a:pPr>
            <a:r>
              <a:t>– quarterly floor regardless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7.  Architecture &amp; Data 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113" y="1051560"/>
            <a:ext cx="2911469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6261D"/>
                </a:solidFill>
              </a:defRPr>
            </a:pPr>
            <a:r>
              <a:t>• Offline plane (dvc repro → MLflow → export) feeds artifacts/; online plane serves them. Monitoring &amp; governance read the audit log and the trained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9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B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8. 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/            demo UI — enter a patient, get risk + flag + SHAP factors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/predict     JSON API — calibrated risk, flag, top contributing factors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/governance  tabs: Model Card · Model Evaluation · Fairness Audit · SHAP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/drift       live Evidently data + prediction drift report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Grafana  (:3000)   service &amp; model dashboards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Prometheus (:9090)  metrics &amp; firing alerts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800">
                <a:solidFill>
                  <a:srgbClr val="16261D"/>
                </a:solidFill>
              </a:defRPr>
            </a:pPr>
            <a:r>
              <a:t>• One command runs the whole stack:  docker compose up --build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