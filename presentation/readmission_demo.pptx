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6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057400"/>
            <a:ext cx="164592" cy="2194560"/>
          </a:xfrm>
          <a:prstGeom prst="round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Diabetes 30-Day Readmission Prediction</a:t>
            </a:r>
          </a:p>
          <a:p>
            <a:pPr algn="l">
              <a:spcAft>
                <a:spcPts val="0"/>
              </a:spcAft>
              <a:defRPr sz="2000" b="0">
                <a:solidFill>
                  <a:srgbClr val="CFE6D8"/>
                </a:solidFill>
              </a:defRPr>
            </a:pPr>
            <a:r>
              <a:t>Decisions, outcomes, and the system — stage by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943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CFE6D8"/>
                </a:solidFill>
              </a:defRPr>
            </a:pPr>
            <a:r>
              <a:t>Care-team decision support   ·   UCI Diabetes 130-US Hospitals (1999–2008)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l">
              <a:spcAft>
                <a:spcPts val="600"/>
              </a:spcAft>
              <a:defRPr sz="2500" b="1">
                <a:solidFill>
                  <a:srgbClr val="FFFFFF"/>
                </a:solidFill>
              </a:defRPr>
            </a:pPr>
            <a:r>
              <a:t>The Problem &amp; Framing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800" b="0">
                <a:solidFill>
                  <a:srgbClr val="16261D"/>
                </a:solidFill>
              </a:defRPr>
            </a:pPr>
            <a:r>
              <a:t>Goal: at discharge, flag each diabetic patient likely to be readmitted within 30 days, so care teams can target follow-up.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16261D"/>
                </a:solidFill>
              </a:defRPr>
            </a:pPr>
            <a:r>
              <a:t>•  Target = binary “readmitted &lt; 30 days” (≈11% of patients) — matches the real action (flag for follow-up).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16261D"/>
                </a:solidFill>
              </a:defRPr>
            </a:pPr>
            <a:r>
              <a:t>•  Accuracy is the wrong metric — predicting “never readmit” scores 89%. We judge on recall, precision, calibration, and net savings.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16261D"/>
                </a:solidFill>
              </a:defRPr>
            </a:pPr>
            <a:r>
              <a:t>•  The model is ~20% of the work; the system around it — reproducible pipeline, serving, monitoring, governance — is the other 80%.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6261D"/>
                </a:solidFill>
              </a:defRPr>
            </a:pPr>
            <a:r>
              <a:t>•  Output is decision support, never an automatic action: a clinician sees the risk and the reasons, and decides.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l">
              <a:spcAft>
                <a:spcPts val="600"/>
              </a:spcAft>
              <a:defRPr sz="2500" b="1">
                <a:solidFill>
                  <a:srgbClr val="FFFFFF"/>
                </a:solidFill>
              </a:defRPr>
            </a:pPr>
            <a:r>
              <a:t>Architecture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4291" y="1783080"/>
            <a:ext cx="1627632" cy="11430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Raw data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CFE6D8"/>
                </a:solidFill>
              </a:defRPr>
            </a:pPr>
            <a:r>
              <a:t>101k encounters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1783080"/>
            <a:ext cx="1627632" cy="11430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Clean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CFE6D8"/>
                </a:solidFill>
              </a:defRPr>
            </a:pPr>
            <a:r>
              <a:t>? → NaN, filter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6483" y="1783080"/>
            <a:ext cx="1627632" cy="11430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Features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CFE6D8"/>
                </a:solidFill>
              </a:defRPr>
            </a:pPr>
            <a:r>
              <a:t>engineer() · 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7579" y="1783080"/>
            <a:ext cx="1627632" cy="11430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Train &amp; select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CFE6D8"/>
                </a:solidFill>
              </a:defRPr>
            </a:pPr>
            <a:r>
              <a:t>XGB winner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48675" y="1783080"/>
            <a:ext cx="1627632" cy="11430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Export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CFE6D8"/>
                </a:solidFill>
              </a:defRPr>
            </a:pPr>
            <a:r>
              <a:t>model + spec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9771" y="1783080"/>
            <a:ext cx="1627632" cy="11430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Serve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CFE6D8"/>
                </a:solidFill>
              </a:defRPr>
            </a:pPr>
            <a:r>
              <a:t>risk + SHAP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50211" y="2253996"/>
            <a:ext cx="246888" cy="201168"/>
          </a:xfrm>
          <a:prstGeom prst="rightArrow">
            <a:avLst/>
          </a:prstGeom>
          <a:solidFill>
            <a:srgbClr val="074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061307" y="2253996"/>
            <a:ext cx="246888" cy="201168"/>
          </a:xfrm>
          <a:prstGeom prst="rightArrow">
            <a:avLst/>
          </a:prstGeom>
          <a:solidFill>
            <a:srgbClr val="074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972403" y="2253996"/>
            <a:ext cx="246888" cy="201168"/>
          </a:xfrm>
          <a:prstGeom prst="rightArrow">
            <a:avLst/>
          </a:prstGeom>
          <a:solidFill>
            <a:srgbClr val="074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883499" y="2253996"/>
            <a:ext cx="246888" cy="201168"/>
          </a:xfrm>
          <a:prstGeom prst="rightArrow">
            <a:avLst/>
          </a:prstGeom>
          <a:solidFill>
            <a:srgbClr val="074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794595" y="2253996"/>
            <a:ext cx="246888" cy="201168"/>
          </a:xfrm>
          <a:prstGeom prst="rightArrow">
            <a:avLst/>
          </a:prstGeom>
          <a:solidFill>
            <a:srgbClr val="074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5A6F63"/>
                </a:solidFill>
              </a:defRPr>
            </a:pPr>
            <a:r>
              <a:t>Each stage's output is the next stage's input:  cleaned.parquet → features.parquet → MLflow model → artifacts/ → live predictions.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10360152" cy="1371600"/>
          </a:xfrm>
          <a:prstGeom prst="roundRect">
            <a:avLst/>
          </a:prstGeom>
          <a:solidFill>
            <a:srgbClr val="EEF5F0"/>
          </a:solidFill>
          <a:ln w="15875">
            <a:solidFill>
              <a:srgbClr val="B6D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spcAft>
                <a:spcPts val="400"/>
              </a:spcAft>
              <a:defRPr sz="1500" b="1">
                <a:solidFill>
                  <a:srgbClr val="0B6B4F"/>
                </a:solidFill>
              </a:defRPr>
            </a:pPr>
            <a:r>
              <a:t>Monitoring &amp; Governance  (wraps the served model)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16261D"/>
                </a:solidFill>
              </a:defRPr>
            </a:pPr>
            <a:r>
              <a:t>every prediction logged  →  drift · metrics · alerts   |   fairness · SHAP · model card · lineage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0773003" y="2944368"/>
            <a:ext cx="201168" cy="411480"/>
          </a:xfrm>
          <a:prstGeom prst="downArrow">
            <a:avLst/>
          </a:prstGeom>
          <a:solidFill>
            <a:srgbClr val="074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l">
              <a:spcAft>
                <a:spcPts val="600"/>
              </a:spcAft>
              <a:defRPr sz="2500" b="1">
                <a:solidFill>
                  <a:srgbClr val="FFFFFF"/>
                </a:solidFill>
              </a:defRPr>
            </a:pPr>
            <a:r>
              <a:t>Stage 1 —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40080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400" b="1">
                <a:solidFill>
                  <a:srgbClr val="0B6B4F"/>
                </a:solidFill>
              </a:defRPr>
            </a:pPr>
            <a:r>
              <a:t>KEY DECISIONS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Missing values coded as “?” → treated as NaN, not blanks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Drop weight (~97% missing); justify payer_code / specialty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A missing A1C/glucose test is information →</a:t>
            </a:r>
          </a:p>
          <a:p>
            <a:pPr algn="l" lvl="1">
              <a:spcAft>
                <a:spcPts val="700"/>
              </a:spcAft>
              <a:defRPr sz="1300" b="0">
                <a:solidFill>
                  <a:srgbClr val="5A6F63"/>
                </a:solidFill>
              </a:defRPr>
            </a:pPr>
            <a:r>
              <a:t>–  kept as “NotMeasured”, never imputed to normal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Exclude encounters that can’t be readmitted</a:t>
            </a:r>
          </a:p>
          <a:p>
            <a:pPr algn="l" lvl="1">
              <a:spcAft>
                <a:spcPts val="700"/>
              </a:spcAft>
              <a:defRPr sz="1300" b="0">
                <a:solidFill>
                  <a:srgbClr val="5A6F63"/>
                </a:solidFill>
              </a:defRPr>
            </a:pPr>
            <a:r>
              <a:t>–  (expired / hospice discharge)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Define the target once, in one 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234440"/>
            <a:ext cx="4325112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6D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0" y="1234440"/>
            <a:ext cx="4325112" cy="50292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0" y="1234440"/>
            <a:ext cx="4325112" cy="50292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 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920240"/>
            <a:ext cx="3886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99,340 clean encounters (~70k patients)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Validated cleaning pipeline (pandera), DVC-tracked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Reproducible: one command rebuilds the data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Missingness preserved as signal, not noise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l">
              <a:spcAft>
                <a:spcPts val="600"/>
              </a:spcAft>
              <a:defRPr sz="2500" b="1">
                <a:solidFill>
                  <a:srgbClr val="FFFFFF"/>
                </a:solidFill>
              </a:defRPr>
            </a:pPr>
            <a:r>
              <a:t>Stage 2 —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40080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400" b="1">
                <a:solidFill>
                  <a:srgbClr val="0B6B4F"/>
                </a:solidFill>
              </a:defRPr>
            </a:pPr>
            <a:r>
              <a:t>KEY DECISIONS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Group ICD-9 diag_1/2/3 into clinical buckets</a:t>
            </a:r>
          </a:p>
          <a:p>
            <a:pPr algn="l" lvl="1">
              <a:spcAft>
                <a:spcPts val="700"/>
              </a:spcAft>
              <a:defRPr sz="1300" b="0">
                <a:solidFill>
                  <a:srgbClr val="5A6F63"/>
                </a:solidFill>
              </a:defRPr>
            </a:pPr>
            <a:r>
              <a:t>–  (Circulatory, Respiratory, Diabetes, …)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Roll up utilization: total_prior_visits, active meds,</a:t>
            </a:r>
          </a:p>
          <a:p>
            <a:pPr algn="l" lvl="1">
              <a:spcAft>
                <a:spcPts val="700"/>
              </a:spcAft>
              <a:defRPr sz="1300" b="0">
                <a:solidFill>
                  <a:srgbClr val="5A6F63"/>
                </a:solidFill>
              </a:defRPr>
            </a:pPr>
            <a:r>
              <a:t>–  medication changes; ordinal age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Collapse rare specialty / payer categories to “Other”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ONE shared transform used at train and serve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234440"/>
            <a:ext cx="4325112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6D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0" y="1234440"/>
            <a:ext cx="4325112" cy="50292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0" y="1234440"/>
            <a:ext cx="4325112" cy="50292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 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920240"/>
            <a:ext cx="3886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48 model features from ~26 raw inputs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Server derives engineered features — caller sends facts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No training/serving skew by construction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Every feature + rationale logged in FEATURES.md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l">
              <a:spcAft>
                <a:spcPts val="600"/>
              </a:spcAft>
              <a:defRPr sz="2500" b="1">
                <a:solidFill>
                  <a:srgbClr val="FFFFFF"/>
                </a:solidFill>
              </a:defRPr>
            </a:pPr>
            <a:r>
              <a:t>Stage 3 — Modeling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B6B4F"/>
                </a:solidFill>
              </a:defRPr>
            </a:pPr>
            <a:r>
              <a:t>DECISIONS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6261D"/>
                </a:solidFill>
              </a:defRPr>
            </a:pPr>
            <a:r>
              <a:t>Split by patient (no leakage) · tune on PR-AUC · calibrate probabilities · cost-based threshold (0.10).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A6F63"/>
                </a:solidFill>
              </a:defRPr>
            </a:pPr>
            <a:r>
              <a:t>Handle 11% imbalance by weighting the minority class ≈7.8× in the loss (scale_pos_weight = negatives ÷ positives = 61,698 ÷ 7,915) — not resampling, which would duplicate patients and break grouped CV.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697480"/>
          <a:ext cx="9601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1371600"/>
                <a:gridCol w="18288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 (validation)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Recall@p≥30%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Logistic regression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6261D"/>
                          </a:solidFill>
                        </a:defRPr>
                      </a:pPr>
                      <a:r>
                        <a:t>XGBoost  — winner</a:t>
                      </a:r>
                    </a:p>
                  </a:txBody>
                  <a:tcPr>
                    <a:solidFill>
                      <a:srgbClr val="CFE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261D"/>
                          </a:solidFill>
                        </a:defRPr>
                      </a:pPr>
                      <a:r>
                        <a:t>0.239</a:t>
                      </a:r>
                    </a:p>
                  </a:txBody>
                  <a:tcPr>
                    <a:solidFill>
                      <a:srgbClr val="CFE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261D"/>
                          </a:solidFill>
                        </a:defRPr>
                      </a:pPr>
                      <a:r>
                        <a:t>0.680</a:t>
                      </a:r>
                    </a:p>
                  </a:txBody>
                  <a:tcPr>
                    <a:solidFill>
                      <a:srgbClr val="CFE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261D"/>
                          </a:solidFill>
                        </a:defRPr>
                      </a:pPr>
                      <a:r>
                        <a:t>0.216</a:t>
                      </a:r>
                    </a:p>
                  </a:txBody>
                  <a:tcPr>
                    <a:solidFill>
                      <a:srgbClr val="CFE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261D"/>
                          </a:solidFill>
                        </a:defRPr>
                      </a:pPr>
                      <a:r>
                        <a:t>0.206</a:t>
                      </a:r>
                    </a:p>
                  </a:txBody>
                  <a:tcPr>
                    <a:solidFill>
                      <a:srgbClr val="CFE6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XGBoost +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6261D"/>
                </a:solidFill>
              </a:defRPr>
            </a:pPr>
            <a:r>
              <a:t>OUTCOME — one-time test: recall 70% of readmissions caught, PR-AUC 0.244, Brier 0.095 (calibration fixed 0.206 → 0.097).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A6F63"/>
                </a:solidFill>
              </a:defRPr>
            </a:pPr>
            <a:r>
              <a:t>Threshold 0.10 from real costs: flag when risk × 0.2 × $15,000 &gt; $300. Low precision is deliberate — a cheap call vs a costly readmission.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l">
              <a:spcAft>
                <a:spcPts val="600"/>
              </a:spcAft>
              <a:defRPr sz="2500" b="1">
                <a:solidFill>
                  <a:srgbClr val="FFFFFF"/>
                </a:solidFill>
              </a:defRPr>
            </a:pPr>
            <a:r>
              <a:t>Stage 4 — Packaging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40080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400" b="1">
                <a:solidFill>
                  <a:srgbClr val="0B6B4F"/>
                </a:solidFill>
              </a:defRPr>
            </a:pPr>
            <a:r>
              <a:t>KEY DECISIONS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Export model + feature spec as one matched artifact</a:t>
            </a:r>
          </a:p>
          <a:p>
            <a:pPr algn="l" lvl="1">
              <a:spcAft>
                <a:spcPts val="700"/>
              </a:spcAft>
              <a:defRPr sz="1300" b="0">
                <a:solidFill>
                  <a:srgbClr val="5A6F63"/>
                </a:solidFill>
              </a:defRPr>
            </a:pPr>
            <a:r>
              <a:t>–  (serving never touches MLflow or training data)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Containerize the service; whole stack in one command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Bundle metrics + dashboards with the service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Cloud Run as the deploy target (scales to zero)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Keep the previous image for one-command rollback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234440"/>
            <a:ext cx="4325112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6D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0" y="1234440"/>
            <a:ext cx="4325112" cy="50292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0" y="1234440"/>
            <a:ext cx="4325112" cy="50292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 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920240"/>
            <a:ext cx="3886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Self-contained image — model travels with the code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One command runs API + monitoring locally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Same image deploys unchanged to the cloud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Simple, documented rollback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l">
              <a:spcAft>
                <a:spcPts val="600"/>
              </a:spcAft>
              <a:defRPr sz="2500" b="1">
                <a:solidFill>
                  <a:srgbClr val="FFFFFF"/>
                </a:solidFill>
              </a:defRPr>
            </a:pPr>
            <a:r>
              <a:t>Stage 5 — Observability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40080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400" b="1">
                <a:solidFill>
                  <a:srgbClr val="0B6B4F"/>
                </a:solidFill>
              </a:defRPr>
            </a:pPr>
            <a:r>
              <a:t>KEY DECISIONS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Log every prediction (inputs, score, version, time)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Track service health: latency, errors, request rate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Detect drift vs the training distribution</a:t>
            </a:r>
          </a:p>
          <a:p>
            <a:pPr algn="l" lvl="1">
              <a:spcAft>
                <a:spcPts val="700"/>
              </a:spcAft>
              <a:defRPr sz="1300" b="0">
                <a:solidFill>
                  <a:srgbClr val="5A6F63"/>
                </a:solidFill>
              </a:defRPr>
            </a:pPr>
            <a:r>
              <a:t>–  (data drift + prediction-score drift)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Alert a human on errors / unusual flag rate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Define a concrete retraining trigger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234440"/>
            <a:ext cx="4325112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6D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0" y="1234440"/>
            <a:ext cx="4325112" cy="50292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0" y="1234440"/>
            <a:ext cx="4325112" cy="50292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 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920240"/>
            <a:ext cx="3886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Live drift report (recent traffic vs training)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Dashboards for service &amp; model behaviour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Alerts fire when something moves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Retrain when: ≥30% feature drift, recall &lt; 0.55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on new labels, or quarterly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l">
              <a:spcAft>
                <a:spcPts val="600"/>
              </a:spcAft>
              <a:defRPr sz="2500" b="1">
                <a:solidFill>
                  <a:srgbClr val="FFFFFF"/>
                </a:solidFill>
              </a:defRPr>
            </a:pPr>
            <a:r>
              <a:t>Stage 6 — Governance &amp; Re-evaluation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40080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400" b="1">
                <a:solidFill>
                  <a:srgbClr val="0B6B4F"/>
                </a:solidFill>
              </a:defRPr>
            </a:pPr>
            <a:r>
              <a:t>KEY DECISIONS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Audit fairness across age, gender, race</a:t>
            </a:r>
          </a:p>
          <a:p>
            <a:pPr algn="l" lvl="1">
              <a:spcAft>
                <a:spcPts val="700"/>
              </a:spcAft>
              <a:defRPr sz="1300" b="0">
                <a:solidFill>
                  <a:srgbClr val="5A6F63"/>
                </a:solidFill>
              </a:defRPr>
            </a:pPr>
            <a:r>
              <a:t>–  (per-group recall &amp; selection rate, not averages)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Explain globally and per patient (SHAP)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Trace lineage: data + code + model version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Keep the human in the loop for borderline cases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6261D"/>
                </a:solidFill>
              </a:defRPr>
            </a:pPr>
            <a:r>
              <a:t>•  Write it down: model card + 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234440"/>
            <a:ext cx="4325112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6D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0" y="1234440"/>
            <a:ext cx="4325112" cy="50292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0" y="1234440"/>
            <a:ext cx="4325112" cy="50292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 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920240"/>
            <a:ext cx="3886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Gender essentially fair (recall gap 0.045)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Race / age gaps disclosed (small subgroups, young)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Top drivers: prior inpatient visits, discharge type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16261D"/>
                </a:solidFill>
              </a:defRPr>
            </a:pPr>
            <a:r>
              <a:t>•  Model card + fairness report generated from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l">
              <a:spcAft>
                <a:spcPts val="600"/>
              </a:spcAft>
              <a:defRPr sz="2500" b="1">
                <a:solidFill>
                  <a:srgbClr val="FFFFFF"/>
                </a:solidFill>
              </a:defRPr>
            </a:pPr>
            <a:r>
              <a:t>Outcomes &amp; Honest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3727" y="1234440"/>
            <a:ext cx="33832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6D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5167" y="1325880"/>
            <a:ext cx="3200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3400" b="1">
                <a:solidFill>
                  <a:srgbClr val="0B6B4F"/>
                </a:solidFill>
              </a:defRPr>
            </a:pPr>
            <a:r>
              <a:t>70%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5A6F63"/>
                </a:solidFill>
              </a:defRPr>
            </a:pPr>
            <a:r>
              <a:t>of 30-day readmissions flagged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4207" y="1234440"/>
            <a:ext cx="33832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6D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95647" y="1325880"/>
            <a:ext cx="3200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3400" b="1">
                <a:solidFill>
                  <a:srgbClr val="0B6B4F"/>
                </a:solidFill>
              </a:defRPr>
            </a:pPr>
            <a:r>
              <a:t>$96,103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5A6F63"/>
                </a:solidFill>
              </a:defRPr>
            </a:pPr>
            <a:r>
              <a:t>net savings per 1,000 patients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44687" y="1234440"/>
            <a:ext cx="33832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6D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6127" y="1325880"/>
            <a:ext cx="3200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3400" b="1">
                <a:solidFill>
                  <a:srgbClr val="0B6B4F"/>
                </a:solidFill>
              </a:defRPr>
            </a:pPr>
            <a:r>
              <a:t>0.095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5A6F63"/>
                </a:solidFill>
              </a:defRPr>
            </a:pPr>
            <a:r>
              <a:t>Brier — calibrated, honest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486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0B6B4F"/>
                </a:solidFill>
              </a:defRPr>
            </a:pPr>
            <a:r>
              <a:t>WHAT WORKS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16261D"/>
                </a:solidFill>
              </a:defRPr>
            </a:pPr>
            <a:r>
              <a:t>•  End-to-end, reproducible pipeline (data → governance)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16261D"/>
                </a:solidFill>
              </a:defRPr>
            </a:pPr>
            <a:r>
              <a:t>•  Calibrated, explainable, cost-aligned predictions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16261D"/>
                </a:solidFill>
              </a:defRPr>
            </a:pPr>
            <a:r>
              <a:t>•  Live monitoring, drift, and a retraining trigger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16261D"/>
                </a:solidFill>
              </a:defRPr>
            </a:pPr>
            <a:r>
              <a:t>•  Fairness audited and disclosed; model card from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200400"/>
            <a:ext cx="53035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0B6B4F"/>
                </a:solidFill>
              </a:defRPr>
            </a:pPr>
            <a:r>
              <a:t>LIMITATIONS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16261D"/>
                </a:solidFill>
              </a:defRPr>
            </a:pPr>
            <a:r>
              <a:t>•  1999–2008 / ICD-9 data — retrain before real use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16261D"/>
                </a:solidFill>
              </a:defRPr>
            </a:pPr>
            <a:r>
              <a:t>•  Low precision by design (high-recall triage)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16261D"/>
                </a:solidFill>
              </a:defRPr>
            </a:pPr>
            <a:r>
              <a:t>•  Weaker for young &amp; rare subgroups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16261D"/>
                </a:solidFill>
              </a:defRPr>
            </a:pPr>
            <a:r>
              <a:t>•  Predicts risk, not clinical need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6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  <a:defRPr sz="4000" b="1">
                <a:solidFill>
                  <a:srgbClr val="FFFFFF"/>
                </a:solidFill>
              </a:defRPr>
            </a:pPr>
            <a:r>
              <a:t>Live Demo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CFE6D8"/>
                </a:solidFill>
              </a:defRPr>
            </a:pPr>
            <a:r>
              <a:t>•  Enter a patient → instant risk, a follow-up flag, and the factors behind it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CFE6D8"/>
                </a:solidFill>
              </a:defRPr>
            </a:pPr>
            <a:r>
              <a:t>•  Governance view: model card, evaluation, fairness, explanations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FE6D8"/>
                </a:solidFill>
              </a:defRPr>
            </a:pPr>
            <a:r>
              <a:t>•  Monitoring: live dashboards and the drift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